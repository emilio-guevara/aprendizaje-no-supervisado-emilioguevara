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772400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Caso Integrador: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Arial"/>
              </a:rPr>
              <a:t>De los datos a la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063240"/>
            <a:ext cx="2286000" cy="54864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7772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FFF500"/>
                </a:solidFill>
                <a:latin typeface="Calibri"/>
              </a:rPr>
              <a:t>Aprendizaje No Supervisado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023360"/>
            <a:ext cx="1097280" cy="32004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 i="0">
                <a:solidFill>
                  <a:srgbClr val="1A1A1A"/>
                </a:solidFill>
                <a:latin typeface="Arial"/>
              </a:rPr>
              <a:t>UDEM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023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Jorge Alberto Ramírez García, M.Eng.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El flujo de un proyecto no supervisado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1104900" cy="685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30352" y="1143000"/>
            <a:ext cx="95859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Preparar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62100" y="1143000"/>
            <a:ext cx="320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2139" y="1143000"/>
            <a:ext cx="1104900" cy="6858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55291" y="1143000"/>
            <a:ext cx="95859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Reducir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040" y="1143000"/>
            <a:ext cx="320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7079" y="1143000"/>
            <a:ext cx="1104900" cy="685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0231" y="1143000"/>
            <a:ext cx="95859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Agrupar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1979" y="1143000"/>
            <a:ext cx="320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32019" y="1143000"/>
            <a:ext cx="1104900" cy="6858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805171" y="1143000"/>
            <a:ext cx="95859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Validar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6919" y="1143000"/>
            <a:ext cx="320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6959" y="1143000"/>
            <a:ext cx="1104900" cy="685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30111" y="1143000"/>
            <a:ext cx="95859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Interpretar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1859" y="1143000"/>
            <a:ext cx="320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1899" y="1143000"/>
            <a:ext cx="1104900" cy="68580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655051" y="1143000"/>
            <a:ext cx="95859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1A1A1A"/>
                </a:solidFill>
                <a:latin typeface="Arial"/>
              </a:rPr>
              <a:t>Actuar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011680"/>
            <a:ext cx="11049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Nulos y tipos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Transformar (log1p)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Escalar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82139" y="2011680"/>
            <a:ext cx="11049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PCA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Scree y cargas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Ejes con nombre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07079" y="2011680"/>
            <a:ext cx="11049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K-Means: segmentos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DBSCAN: atípicos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32019" y="2011680"/>
            <a:ext cx="11049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Métricas internas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ARI si hay etiqueta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Estabilidad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6959" y="2011680"/>
            <a:ext cx="11049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Perfil en unidades originales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Nombre por segmento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1899" y="2011680"/>
            <a:ext cx="11049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Una acción por segmento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Calibri"/>
              </a:rPr>
              <a:t>•  Plan para atípicos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291840"/>
            <a:ext cx="8229600" cy="7315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3364992"/>
            <a:ext cx="7955279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No es una línea recta: si el perfil no tiene sentido de negocio, regresa a preparar o a elegir otro k. </a:t>
            </a:r>
            <a:r>
              <a:rPr sz="1200" b="1" i="0">
                <a:solidFill>
                  <a:srgbClr val="1A1A1A"/>
                </a:solidFill>
                <a:latin typeface="Calibri"/>
              </a:rPr>
              <a:t>El entregable no es un cluster: es una decisión.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Preparar: transformar antes de escalar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pic>
        <p:nvPicPr>
          <p:cNvPr id="7" name="Picture 6" descr="log1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5120640" cy="20482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0" y="1097280"/>
            <a:ext cx="3017520" cy="265176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0" y="1234439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¿Cuándo log1p?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45919"/>
            <a:ext cx="2651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Montos de dinero, conteos, tiempos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Media ≫ mediana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Asimetría &gt; 1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Máximo decenas de veces la mediana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Con ceros: log1p, no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500"/>
                </a:solidFill>
                <a:latin typeface="Calibri"/>
              </a:rPr>
              <a:t>x′ = log(1 + x)   →   después StandardScaler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Checklist de decisiones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468880"/>
                <a:gridCol w="4114800"/>
              </a:tblGrid>
              <a:tr h="384048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Decisión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Herramienta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Regla práctica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¿Escalar?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StandardScaler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Siempre con K-Means, DBSCAN y PCA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¿Transformar?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np.log1p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Si hay sesgo fuerte y outliers enormes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n_componentes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Scree plot + cargas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Codo o 80-90% de varianza; que se puedan nombrar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k (K-Means)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Codo + silhouette, DB, CH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Varias señales + sentido de negocio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min_samples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Dimensiones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≈ 2 × número de dimensiones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eps (DBSCAN)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Gráfica de k-distancia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Justo antes de que la curva se dispare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¿Qué entra?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Lista de columnas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Nunca la etiqueta que usarás para validar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K-Means vs DBSCAN vs PCA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286000"/>
                <a:gridCol w="2286000"/>
                <a:gridCol w="2194560"/>
              </a:tblGrid>
              <a:tr h="438912">
                <a:tc>
                  <a:txBody>
                    <a:bodyPr/>
                    <a:lstStyle/>
                    <a:p/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500"/>
                          </a:solidFill>
                          <a:latin typeface="Arial"/>
                        </a:rPr>
                        <a:t>K-Means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500"/>
                          </a:solidFill>
                          <a:latin typeface="Arial"/>
                        </a:rPr>
                        <a:t>DBSCAN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FFF500"/>
                          </a:solidFill>
                          <a:latin typeface="Arial"/>
                        </a:rPr>
                        <a:t>PCA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Para qué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Segmentar en k grupos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Zonas densas + atípicos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Reducir y visualizar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Tú eliges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eps y min_samples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n_componentes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Forma de grupos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Esféricos, tamaños parecidos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Cualquier forma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agrupa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Outliers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Los fuerza a un cluster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Los marca como ruido (-1)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Pueden dominar un eje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Úsalo cuando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Quieres segmentos accionables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Buscas anomalías o formas raras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Hay muchas variables correlacionadas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Cuidado con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Elegir k con una sola métrica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eps al azar; densidades variables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1A"/>
                          </a:solidFill>
                          <a:latin typeface="Calibri"/>
                        </a:rPr>
                        <a:t>No escalar; no leer cargas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343400"/>
            <a:ext cx="8229600" cy="411480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4416552"/>
            <a:ext cx="7955279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En la práctica se </a:t>
            </a:r>
            <a:r>
              <a:rPr sz="1100" b="1" i="0">
                <a:solidFill>
                  <a:srgbClr val="2E7D32"/>
                </a:solidFill>
                <a:latin typeface="Calibri"/>
              </a:rPr>
              <a:t>combinan</a:t>
            </a:r>
            <a:r>
              <a:rPr sz="1100" b="0" i="0">
                <a:solidFill>
                  <a:srgbClr val="2E7D32"/>
                </a:solidFill>
                <a:latin typeface="Calibri"/>
              </a:rPr>
              <a:t>: PCA para preparar el espacio, K-Means para segmentar y DBSCAN para vigilar.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Validar e interpretar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606040" cy="219456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Métricas internas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Silhouette ↑, Davies-Bouldin ↓, Calinski-Harabasz ↑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Sólo comparables en el mismo espacio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Sin contar el ruido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68980" y="1097280"/>
            <a:ext cx="2606040" cy="219456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451860" y="123443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Etiqueta externa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1860" y="1645919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ARI contra una variable que NO usaste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No buscas copiarla: buscas que la explique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En la vida real casi nunca existe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097280"/>
            <a:ext cx="2606040" cy="219456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63640" y="1234439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Perfil de negocio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19"/>
            <a:ext cx="224028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Promedios y medianas en unidades originales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Tamaño y % del total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Un nombre y una acción por segmento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500"/>
                </a:solidFill>
                <a:latin typeface="Calibri"/>
              </a:rPr>
              <a:t>Cluster  →  perfil  →  nombre  →  acción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Errores comunes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94360" y="117043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  <a:latin typeface="Calibri"/>
              </a:rPr>
              <a:t>✗  Agrupar sin escalar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097280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800600" y="117043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Escala siempre; con dinero, log1p y luego escala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700784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1773936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  <a:latin typeface="Calibri"/>
              </a:rPr>
              <a:t>✗  Creer en una silhouette alta sin ver los tamaños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700784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00600" y="1773936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Revisa cuántos puntos tiene cada cluster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04288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94360" y="237744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  <a:latin typeface="Calibri"/>
              </a:rPr>
              <a:t>✗  Comparar métricas de espacios distintos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304288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800600" y="2377440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Compara en el mismo espacio o usa ARI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07791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4360" y="2980944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  <a:latin typeface="Calibri"/>
              </a:rPr>
              <a:t>✗  Meter la etiqueta (o los clusters) como variable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2907791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800600" y="2980944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Deja fuera lo que usarás para validar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511296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3584448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  <a:latin typeface="Calibri"/>
              </a:rPr>
              <a:t>✗  Reportar centroides escalados o en PCs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511296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800600" y="3584448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Perfila sobre el df original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114800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418795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  <a:latin typeface="Calibri"/>
              </a:rPr>
              <a:t>✗  Terminar en 'encontré 3 clusters'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114800"/>
            <a:ext cx="4023360" cy="512064"/>
          </a:xfrm>
          <a:prstGeom prst="roundRect">
            <a:avLst>
              <a:gd name="adj" fmla="val 3571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00600" y="4187952"/>
            <a:ext cx="37490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E7D32"/>
                </a:solidFill>
                <a:latin typeface="Calibri"/>
              </a:rPr>
              <a:t>✓  Termina en una decisión por segmento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El caso: un distribuidor mayorista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4023360" cy="210312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 w="12700">
            <a:solidFill>
              <a:srgbClr val="F2F2F2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19"/>
            <a:ext cx="36576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440 clientes de un mayorista en Portugal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Gasto anual en 6 categorías: frescos, lácteos, abarrotes, congelados, detergentes y papel, delicatessen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Además: canal (Horeca o Retail) y región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Fuente: UCI ML Repository (CC BY 4.0)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097280"/>
            <a:ext cx="4023360" cy="2103120"/>
          </a:xfrm>
          <a:prstGeom prst="roundRect">
            <a:avLst>
              <a:gd name="adj" fmla="val 3571"/>
            </a:avLst>
          </a:prstGeom>
          <a:solidFill>
            <a:srgbClr val="FFFDE0"/>
          </a:solidFill>
          <a:ln w="12700">
            <a:solidFill>
              <a:srgbClr val="FFF500"/>
            </a:solidFill>
          </a:ln>
          <a:effectLst>
            <a:outerShdw blurRad="50800" dist="25400" dir="189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46320" y="123443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Arial"/>
              </a:rPr>
              <a:t>Tu misión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1645919"/>
            <a:ext cx="36576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Agrupar sólo con los 6 gastos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Canal y región quedan fuera del modelo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Usar el canal al final para validar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666666"/>
                </a:solidFill>
                <a:latin typeface="Calibri"/>
              </a:rPr>
              <a:t>•  Proponer equipo de venta, surtido y logística por segmento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8229600" cy="7772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3520439"/>
            <a:ext cx="8229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500"/>
                </a:solidFill>
                <a:latin typeface="Calibri"/>
              </a:rPr>
              <a:t>¿Cómo debe organizar el distribuidor a sus clientes mayoristas?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Arial"/>
              </a:rPr>
              <a:t>Rúbrica sugerida de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666666"/>
                </a:solidFill>
                <a:latin typeface="Calibri"/>
              </a:rPr>
              <a:t>UDEM  |  Modelos de Analítica Predictiva  |  Jorge A. Ramírez García, M.Eng.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97280"/>
          <a:ext cx="82296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577840"/>
                <a:gridCol w="91440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Qué se espera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500"/>
                          </a:solidFill>
                          <a:latin typeface="Arial"/>
                        </a:rPr>
                        <a:t>Peso</a:t>
                      </a:r>
                    </a:p>
                  </a:txBody>
                  <a:tcPr marL="73152" marR="73152" marT="27432" marB="27432">
                    <a:solidFill>
                      <a:srgbClr val="1A1A1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Preparación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Exploración, justificación de log1p y escalado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Reducción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n_componentes justificado; ejes interpretados con las cargas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Agrupamiento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k elegido con varias métricas + negocio; DBSCAN con k-distancia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Validación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Métricas en el mismo espacio, tabla cruzada y ARI bien interpretados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Interpretación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Perfil en unidades originales y nombre de cada segmento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Recomendaciones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Acción concreta por segmento y plan para atípicos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15%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Comunicación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Notebook limpio, ejecutable de principio a fin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73152" marR="73152" marT="27432" marB="2743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Conclusiones del curso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31520" y="128016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2801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Prepara bien: escalar (y transformar) cambia los resultados más que el algoritmo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78308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783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PCA resume y permite ver; nombra cada componente con sus cargas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28600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8600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K-Means segmenta, DBSCAN detecta atípicos: se complementan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78892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8892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Elige k, eps y componentes con varias señales y con criterio de negocio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291840"/>
            <a:ext cx="320040" cy="320040"/>
          </a:xfrm>
          <a:prstGeom prst="ellipse">
            <a:avLst/>
          </a:prstGeom>
          <a:solidFill>
            <a:srgbClr val="FFF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918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Un cluster vale lo que vale la decisión que permite tomar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Caso Integrador - De los datos a la decisión - UDEM</dc:title>
  <dc:subject/>
  <dc:creator>Jorge Alberto Ramírez García, M.Eng.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