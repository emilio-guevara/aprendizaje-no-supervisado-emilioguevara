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9" r:id="rId12"/>
    <p:sldId id="266" r:id="rId13"/>
    <p:sldId id="270" r:id="rId14"/>
    <p:sldId id="271" r:id="rId15"/>
    <p:sldId id="267" r:id="rId16"/>
    <p:sldId id="268" r:id="rId1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666"/>
    <p:restoredTop sz="94667"/>
  </p:normalViewPr>
  <p:slideViewPr>
    <p:cSldViewPr snapToGrid="0" snapToObjects="1">
      <p:cViewPr varScale="1">
        <p:scale>
          <a:sx n="182" d="100"/>
          <a:sy n="182" d="100"/>
        </p:scale>
        <p:origin x="648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777240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Introducción al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Aprendizaje</a:t>
            </a:r>
          </a:p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FFFFF"/>
                </a:solidFill>
                <a:latin typeface="Arial"/>
              </a:rPr>
              <a:t>No Supervisado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63240"/>
            <a:ext cx="2286000" cy="54864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3291840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FF500"/>
                </a:solidFill>
                <a:latin typeface="Calibri"/>
              </a:rPr>
              <a:t>Aprendizaje No Supervisado  ·  Sesión 0: Fundamentos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023360"/>
            <a:ext cx="1097280" cy="32004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00" b="1" i="0">
                <a:solidFill>
                  <a:srgbClr val="1A1A1A"/>
                </a:solidFill>
                <a:latin typeface="Arial"/>
              </a:rPr>
              <a:t>UDEM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02336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666666"/>
                </a:solidFill>
                <a:latin typeface="Calibri"/>
              </a:rPr>
              <a:t>Jorge Alberto Ramírez García, M.Eng.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Supervisado vs no supervisado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3931920" cy="16002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Aprendizaje supervisado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19"/>
            <a:ext cx="3566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La respuesta deseada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existe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Clasificación: ¿fallará la máquina?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Regresión: ¿cuánto costará?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097280"/>
            <a:ext cx="3931920" cy="16002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937760" y="1234439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Aprendizaje no supervisado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645919"/>
            <a:ext cx="356616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La respuesta deseada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no existe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Agrupamiento: ¿qué tipos de operación hay?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Reducción de dimensionalidad: ¿cómo resumo 20 sensores?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926080"/>
          <a:ext cx="54864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Turno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RPM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Temp (°C)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Corriente (A)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Fallo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Mañana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1510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12.1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Tarde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1240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19.4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Noche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1820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6217920" y="2926080"/>
            <a:ext cx="2468880" cy="10972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55080" y="2999232"/>
            <a:ext cx="2194560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Si nadie anotó la columna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Fallo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, sólo quedan las lecturas: el problema se vuelve </a:t>
            </a:r>
            <a:r>
              <a:rPr sz="1100" b="1" i="0">
                <a:solidFill>
                  <a:srgbClr val="1A1A1A"/>
                </a:solidFill>
                <a:latin typeface="Calibri"/>
              </a:rPr>
              <a:t>no supervisado</a:t>
            </a:r>
            <a:r>
              <a:rPr sz="1100" b="0" i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Clustering: agrupar por similitud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cluste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486400" cy="258391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035040" y="1097280"/>
            <a:ext cx="2651760" cy="26060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1234439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La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45919"/>
            <a:ext cx="228600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Asignar una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etiqueta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a cada observación según su similitud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necesita etiquetas previas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Sirve para encontrar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patrones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en los datos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4005072"/>
            <a:ext cx="7955279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¿Qué lo hace difícil?  Normalmente hay que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definir el número de grupos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de antemano… y decidir qué significa "parecido".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Familias de algoritmos de clustering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2606040" cy="1920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Por centroides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45919"/>
            <a:ext cx="22402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K-Means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Grupos redondos alrededor de un centro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Tú eliges k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Sesión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68980" y="1097280"/>
            <a:ext cx="2606040" cy="1920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51860" y="1234439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Jerárquico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1860" y="1645919"/>
            <a:ext cx="22402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Árbol de fusiones (dendrograma)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Familia muy conocida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No forma parte de este curso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1097280"/>
            <a:ext cx="2606040" cy="19202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234439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Por densidad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645919"/>
            <a:ext cx="224028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DBSCAN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Grupos de cualquier forma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Marca el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ruido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(atípicos)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Sesión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337560"/>
            <a:ext cx="8229600" cy="8229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410712"/>
            <a:ext cx="7955279" cy="6766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Complejidad creciente: de "tú eliges k y todos los puntos pertenecen a un grupo" (K-Means) a "el algoritmo decide cuántos grupos hay y quién no encaja en ninguno" (DBSCAN).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Reducción de dimensionalidad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reduc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394960" cy="26431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43600" y="1097280"/>
            <a:ext cx="2743200" cy="26060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6480" y="1234439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La idea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45919"/>
            <a:ext cx="23774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Reducir información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conservando la tendencia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de interés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Tampoco necesita etiquetas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Visualizar datos complejos en 2D/3D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Paso de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preprocesamiento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500"/>
                </a:solidFill>
                <a:latin typeface="Calibri"/>
              </a:rPr>
              <a:t>X₁, X₂  →  Z₁        (PCA: sesión 3)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Flujo de trabajo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Adquisición de datos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188720"/>
            <a:ext cx="21945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65376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911095" y="1188720"/>
            <a:ext cx="10972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Exploración de los datos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1188720"/>
            <a:ext cx="21945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73552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19272" y="1188720"/>
            <a:ext cx="10972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Preparación de los datos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1188720"/>
            <a:ext cx="21945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1728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27448" y="1188720"/>
            <a:ext cx="10972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Entrenamiento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70448" y="1188720"/>
            <a:ext cx="21945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89904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35624" y="1188720"/>
            <a:ext cx="10972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Evaluación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1188720"/>
            <a:ext cx="219456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188720"/>
            <a:ext cx="1188720" cy="77724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543800" y="1188720"/>
            <a:ext cx="10972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1A1A1A"/>
                </a:solidFill>
                <a:latin typeface="Arial"/>
              </a:rPr>
              <a:t>Despliegue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331720"/>
            <a:ext cx="2606040" cy="17373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2468879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Preparación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880360"/>
            <a:ext cx="2240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Escalar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siempre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Log en montos sesgados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Elegir qué variables entran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68980" y="2331720"/>
            <a:ext cx="2606040" cy="173736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51860" y="2468879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Entrenamiento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1860" y="2880360"/>
            <a:ext cx="2240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K-Means, DBSCAN, PCA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Elegir k, ε, componentes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Semilla fija (random_state)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080760" y="2331720"/>
            <a:ext cx="2606040" cy="173736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3640" y="2468879"/>
            <a:ext cx="22402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Evaluación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2880360"/>
            <a:ext cx="2240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100" b="1" i="0">
                <a:solidFill>
                  <a:srgbClr val="666666"/>
                </a:solidFill>
                <a:latin typeface="Calibri"/>
              </a:rPr>
              <a:t>No hay</a:t>
            </a:r>
            <a:r>
              <a:rPr sz="1100" b="0" i="0">
                <a:solidFill>
                  <a:srgbClr val="666666"/>
                </a:solidFill>
                <a:latin typeface="Calibri"/>
              </a:rPr>
              <a:t> respuesta para comparar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Métricas internas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666666"/>
                </a:solidFill>
                <a:latin typeface="Calibri"/>
              </a:rPr>
              <a:t>•  Sentido de negocio: ¿a cada grupo le toca una acción?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Distancias: ¿qué tan parecidos son?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Distancia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Fórmula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FFF500"/>
                          </a:solidFill>
                          <a:latin typeface="Arial"/>
                        </a:rPr>
                        <a:t>Úsala cuando…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Euclidiana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√ Σ (pᵢ − qᵢ)²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Medidas numéricas (default)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Manhattan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Σ |pᵢ − qᵢ|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Te mueves "por cuadras"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Coseno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1 − p·q / (‖p‖ ‖q‖)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Importan proporciones (canastas, textos)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Haversine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2R · arcsin √( sin²(Δφ/2) + cos φ₁ cos φ₂ sin²(Δλ/2) 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A1A1A"/>
                          </a:solidFill>
                          <a:latin typeface="Calibri"/>
                        </a:rPr>
                        <a:t>Coordenadas GPS (en radianes)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8" name="Picture 7" descr="distanc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051560"/>
            <a:ext cx="2606040" cy="269797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3977639"/>
            <a:ext cx="8229600" cy="640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4023359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500"/>
                </a:solidFill>
                <a:latin typeface="Calibri"/>
              </a:rPr>
              <a:t>UDEM → Macroplaza:  Haversine = 11.05 km   ·   euclidiana en grados × 111 ≈ 12.22 km 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Por qué escalar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143000"/>
          <a:ext cx="393192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500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500"/>
                          </a:solidFill>
                          <a:latin typeface="Arial"/>
                        </a:rPr>
                        <a:t>Edad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500"/>
                          </a:solidFill>
                          <a:latin typeface="Arial"/>
                        </a:rPr>
                        <a:t>Salario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45 años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$50,000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30 años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Calibri"/>
                        </a:rPr>
                        <a:t>$75,000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2286000"/>
            <a:ext cx="3931920" cy="914400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59152"/>
            <a:ext cx="365760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C62828"/>
                </a:solidFill>
                <a:latin typeface="Calibri"/>
              </a:rPr>
              <a:t>Sin escalar: distancia = </a:t>
            </a:r>
            <a:r>
              <a:rPr sz="1200" b="1" i="0">
                <a:solidFill>
                  <a:srgbClr val="C62828"/>
                </a:solidFill>
                <a:latin typeface="Calibri"/>
              </a:rPr>
              <a:t>25,000.0045</a:t>
            </a:r>
            <a:r>
              <a:rPr sz="1200" b="0" i="0">
                <a:solidFill>
                  <a:srgbClr val="C62828"/>
                </a:solidFill>
                <a:latin typeface="Calibri"/>
              </a:rPr>
              <a:t>. Los 15 años de diferencia aportan sólo </a:t>
            </a:r>
            <a:r>
              <a:rPr sz="1200" b="1" i="0">
                <a:solidFill>
                  <a:srgbClr val="C62828"/>
                </a:solidFill>
                <a:latin typeface="Calibri"/>
              </a:rPr>
              <a:t>0.0045</a:t>
            </a:r>
            <a:r>
              <a:rPr sz="1200" b="0" i="0">
                <a:solidFill>
                  <a:srgbClr val="C62828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29000"/>
            <a:ext cx="3931920" cy="91440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3502152"/>
            <a:ext cx="3657600" cy="7680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Con Min-Max: (1, 0) y (0, 1) → distancia = </a:t>
            </a:r>
            <a:r>
              <a:rPr sz="1200" b="1" i="0">
                <a:solidFill>
                  <a:srgbClr val="2E7D32"/>
                </a:solidFill>
                <a:latin typeface="Calibri"/>
              </a:rPr>
              <a:t>1.4142</a:t>
            </a:r>
            <a:r>
              <a:rPr sz="1200" b="0" i="0">
                <a:solidFill>
                  <a:srgbClr val="2E7D32"/>
                </a:solidFill>
                <a:latin typeface="Calibri"/>
              </a:rPr>
              <a:t>. Edad y salario pesan lo mismo.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1143000"/>
            <a:ext cx="3931920" cy="320040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0" y="1280160"/>
            <a:ext cx="3566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La lección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91640"/>
            <a:ext cx="356616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Las distancias suman diferencias de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todas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 las variables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La variable con unidades más grandes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manda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Medir el salario en miles cambiaría el resultado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Escalar = que el análisis no dependa de las unidades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666666"/>
                </a:solidFill>
                <a:latin typeface="Calibri"/>
              </a:rPr>
              <a:t>•  En este curso </a:t>
            </a:r>
            <a:r>
              <a:rPr sz="1200" b="1" i="0">
                <a:solidFill>
                  <a:srgbClr val="666666"/>
                </a:solidFill>
                <a:latin typeface="Calibri"/>
              </a:rPr>
              <a:t>siempre</a:t>
            </a:r>
            <a:r>
              <a:rPr sz="1200" b="0" i="0">
                <a:solidFill>
                  <a:srgbClr val="666666"/>
                </a:solidFill>
                <a:latin typeface="Calibri"/>
              </a:rPr>
              <a:t> escalamos antes de K-Means, DBSCAN o PCA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StandardScaler vs MinMaxScaler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esca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5394960" cy="241271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989320" y="1097280"/>
            <a:ext cx="2697480" cy="13258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 w="12700">
            <a:solidFill>
              <a:srgbClr val="FFF500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72200" y="1234439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StandardScaler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645919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z = (x − μ) / σ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Media 0, desviación 1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</a:t>
            </a:r>
            <a:r>
              <a:rPr sz="1000" b="1" i="0">
                <a:solidFill>
                  <a:srgbClr val="666666"/>
                </a:solidFill>
                <a:latin typeface="Calibri"/>
              </a:rPr>
              <a:t>Default</a:t>
            </a:r>
            <a:r>
              <a:rPr sz="1000" b="0" i="0">
                <a:solidFill>
                  <a:srgbClr val="666666"/>
                </a:solidFill>
                <a:latin typeface="Calibri"/>
              </a:rPr>
              <a:t> del curso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560320"/>
            <a:ext cx="2697480" cy="132588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 w="12700">
            <a:solidFill>
              <a:srgbClr val="F2F2F2"/>
            </a:solidFill>
          </a:ln>
          <a:effectLst>
            <a:outerShdw blurRad="50800" dist="25400" dir="18900000" algn="tl" rotWithShape="0">
              <a:srgbClr val="000000">
                <a:alpha val="1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72200" y="2697479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Arial"/>
              </a:rPr>
              <a:t>MinMaxScaler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3108960"/>
            <a:ext cx="23317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x' = (x − mín) / (máx − mín)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Todo entre 0 y 1</a:t>
            </a:r>
          </a:p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666666"/>
                </a:solidFill>
                <a:latin typeface="Calibri"/>
              </a:rPr>
              <a:t>•  Un atípico aplasta al resto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3571"/>
            </a:avLst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4096512"/>
            <a:ext cx="7955279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C62828"/>
                </a:solidFill>
                <a:latin typeface="Calibri"/>
              </a:rPr>
              <a:t>Sin escalar, la persona más parecida a Ana (25 años) es Carla (58 años), sólo porque ganan casi lo mismo.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¿Cómo se evalúa algo sin etiquetas?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7" name="Picture 6" descr="metric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4937760" cy="2422718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097280"/>
          <a:ext cx="3200400" cy="1316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3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Métrica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Mejor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Silhouette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↑  (de −1 a 1)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Davies-Bouldin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↓  (0 es ideal)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3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Calinski-Harabasz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↑  (sin tope)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78892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Calibri"/>
              </a:rPr>
              <a:t>En el curso usamos la silhouette: es la más fácil de leer y se puede ver punto por punto.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 i="0">
                <a:solidFill>
                  <a:srgbClr val="FFF500"/>
                </a:solidFill>
                <a:latin typeface="Calibri"/>
              </a:rPr>
              <a:t>s(i) = (b(i) − a(i)) / máx{a(i), b(i)}     a: a su grupo  ·  b: al grupo vecino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EB8AA-CED6-8823-114F-99DA32BE9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570F9D-FC8C-E761-F7E7-AC40FC6BA162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65CA80-58C6-1739-2204-31897BA13FCC}"/>
              </a:ext>
            </a:extLst>
          </p:cNvPr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7F342DE-9EFD-507F-A894-172113B97098}"/>
              </a:ext>
            </a:extLst>
          </p:cNvPr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Caso de estudio: minería (Caterpillar)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25E8D8-758A-D265-148A-AC1EC1815DAC}"/>
              </a:ext>
            </a:extLst>
          </p:cNvPr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FCC752-4158-A79E-3A04-CF0FA88CBFB6}"/>
              </a:ext>
            </a:extLst>
          </p:cNvPr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21" name="Imagen 20">
            <a:extLst>
              <a:ext uri="{FF2B5EF4-FFF2-40B4-BE49-F238E27FC236}">
                <a16:creationId xmlns:a16="http://schemas.microsoft.com/office/drawing/2014/main" id="{B3B7C473-9747-C9F1-48DE-E4F4E9C60C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4047666" cy="23774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7200" y="3657600"/>
            <a:ext cx="4047666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1">
                <a:solidFill>
                  <a:srgbClr val="666666"/>
                </a:solidFill>
                <a:latin typeface="Calibri"/>
              </a:rPr>
              <a:t>Bandas amarillas = eventos de estado estable</a:t>
            </a:r>
          </a:p>
        </p:txBody>
      </p:sp>
      <p:sp>
        <p:nvSpPr>
          <p:cNvPr id="23" name="Oval 22"/>
          <p:cNvSpPr/>
          <p:nvPr/>
        </p:nvSpPr>
        <p:spPr>
          <a:xfrm>
            <a:off x="4343400" y="1161288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1430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Definir "estado estable"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Con carga, de subida, sin cambio de pendiente y a velocidad estable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94276" y="1508760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Oval 25"/>
          <p:cNvSpPr/>
          <p:nvPr/>
        </p:nvSpPr>
        <p:spPr>
          <a:xfrm>
            <a:off x="4343400" y="1837943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0600" y="1819656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Extraer y particionar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Toda la serie de tiempo → una tabla con estadísticos por evento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4276" y="2185416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4343400" y="2514600"/>
            <a:ext cx="320040" cy="32004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B3B3B3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2496312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3B3B3"/>
                </a:solidFill>
                <a:latin typeface="Calibri"/>
              </a:rPr>
              <a:t>Mapear inicio y fin</a:t>
            </a:r>
          </a:p>
          <a:p>
            <a:pPr algn="l"/>
            <a:r>
              <a:rPr sz="1000" b="0" i="0">
                <a:solidFill>
                  <a:srgbClr val="B3B3B3"/>
                </a:solidFill>
                <a:latin typeface="Calibri"/>
              </a:rPr>
              <a:t>Cada evento es una línea recta sobre el mapa de la mina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94276" y="2862072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4343400" y="3191256"/>
            <a:ext cx="320040" cy="32004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B3B3B3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00600" y="3172968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3B3B3"/>
                </a:solidFill>
                <a:latin typeface="Calibri"/>
              </a:rPr>
              <a:t>Agrupar con DBSCAN</a:t>
            </a:r>
          </a:p>
          <a:p>
            <a:pPr algn="l"/>
            <a:r>
              <a:rPr sz="1000" b="0" i="0">
                <a:solidFill>
                  <a:srgbClr val="B3B3B3"/>
                </a:solidFill>
                <a:latin typeface="Calibri"/>
              </a:rPr>
              <a:t>Junta los eventos que recorren el mismo tramo, aunque estén muy cerca de otro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977639"/>
            <a:ext cx="8229600" cy="6400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4360" y="4050791"/>
            <a:ext cx="7955279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Primero: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segmentar la operación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de cada máquina en eventos comparables (estado estable).</a:t>
            </a:r>
          </a:p>
        </p:txBody>
      </p:sp>
    </p:spTree>
    <p:extLst>
      <p:ext uri="{BB962C8B-B14F-4D97-AF65-F5344CB8AC3E}">
        <p14:creationId xmlns:p14="http://schemas.microsoft.com/office/powerpoint/2010/main" val="942091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Caso de estudio: minería (Caterpillar)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96801D3E-631F-72FB-C4AA-5297613998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2975400" cy="26517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457200" y="3749039"/>
            <a:ext cx="2975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1">
                <a:solidFill>
                  <a:srgbClr val="666666"/>
                </a:solidFill>
                <a:latin typeface="Calibri"/>
              </a:rPr>
              <a:t>Cada línea azul = un evento de estado estable</a:t>
            </a:r>
          </a:p>
        </p:txBody>
      </p:sp>
      <p:sp>
        <p:nvSpPr>
          <p:cNvPr id="21" name="Oval 20"/>
          <p:cNvSpPr/>
          <p:nvPr/>
        </p:nvSpPr>
        <p:spPr>
          <a:xfrm>
            <a:off x="4343400" y="1161288"/>
            <a:ext cx="320040" cy="32004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B3B3B3"/>
                </a:solidFill>
                <a:latin typeface="Arial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11430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3B3B3"/>
                </a:solidFill>
                <a:latin typeface="Calibri"/>
              </a:rPr>
              <a:t>Definir "estado estable"</a:t>
            </a:r>
          </a:p>
          <a:p>
            <a:pPr algn="l"/>
            <a:r>
              <a:rPr sz="1000" b="0" i="0">
                <a:solidFill>
                  <a:srgbClr val="B3B3B3"/>
                </a:solidFill>
                <a:latin typeface="Calibri"/>
              </a:rPr>
              <a:t>Con carga, de subida, sin cambio de pendiente y a velocidad estable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4276" y="1508760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4343400" y="1837943"/>
            <a:ext cx="320040" cy="32004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B3B3B3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0600" y="1819656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3B3B3"/>
                </a:solidFill>
                <a:latin typeface="Calibri"/>
              </a:rPr>
              <a:t>Extraer y particionar</a:t>
            </a:r>
          </a:p>
          <a:p>
            <a:pPr algn="l"/>
            <a:r>
              <a:rPr sz="1000" b="0" i="0">
                <a:solidFill>
                  <a:srgbClr val="B3B3B3"/>
                </a:solidFill>
                <a:latin typeface="Calibri"/>
              </a:rPr>
              <a:t>Toda la serie de tiempo → una tabla con estadísticos por evento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94276" y="2185416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Oval 26"/>
          <p:cNvSpPr/>
          <p:nvPr/>
        </p:nvSpPr>
        <p:spPr>
          <a:xfrm>
            <a:off x="4343400" y="25146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00600" y="2496312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Mapear inicio y fin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Cada evento es una línea recta sobre el mapa de la mina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94276" y="2862072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Oval 29"/>
          <p:cNvSpPr/>
          <p:nvPr/>
        </p:nvSpPr>
        <p:spPr>
          <a:xfrm>
            <a:off x="4343400" y="3191256"/>
            <a:ext cx="320040" cy="32004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B3B3B3"/>
                </a:solidFill>
                <a:latin typeface="Arial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3172968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3B3B3"/>
                </a:solidFill>
                <a:latin typeface="Calibri"/>
              </a:rPr>
              <a:t>Agrupar con DBSCAN</a:t>
            </a:r>
          </a:p>
          <a:p>
            <a:pPr algn="l"/>
            <a:r>
              <a:rPr sz="1000" b="0" i="0">
                <a:solidFill>
                  <a:srgbClr val="B3B3B3"/>
                </a:solidFill>
                <a:latin typeface="Calibri"/>
              </a:rPr>
              <a:t>Junta los eventos que recorren el mismo tramo, aunque estén muy cerca de otro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977639"/>
            <a:ext cx="8229600" cy="640080"/>
          </a:xfrm>
          <a:prstGeom prst="roundRect">
            <a:avLst>
              <a:gd name="adj" fmla="val 3571"/>
            </a:avLst>
          </a:prstGeom>
          <a:solidFill>
            <a:srgbClr val="FFFD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4360" y="4050791"/>
            <a:ext cx="7955279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Pregunta: ¿cuál es el </a:t>
            </a:r>
            <a:r>
              <a:rPr sz="1200" b="1" i="0">
                <a:solidFill>
                  <a:srgbClr val="1A1A1A"/>
                </a:solidFill>
                <a:latin typeface="Calibri"/>
              </a:rPr>
              <a:t>tramo más transitado</a:t>
            </a:r>
            <a:r>
              <a:rPr sz="1200" b="0" i="0">
                <a:solidFill>
                  <a:srgbClr val="1A1A1A"/>
                </a:solidFill>
                <a:latin typeface="Calibri"/>
              </a:rPr>
              <a:t> de la mina, para comparar cada máquina en las mismas condiciones?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FEB702-E7E7-E066-F09D-09E747928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7FDF68-F7B2-E57A-75C6-F372A886CC7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F5FCCC-DC0C-A3D8-5077-10DEC9BEB8E0}"/>
              </a:ext>
            </a:extLst>
          </p:cNvPr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E3D5CF-293E-09C1-33AA-3D9BE31E3EAA}"/>
              </a:ext>
            </a:extLst>
          </p:cNvPr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Caso de estudio: minería (Caterpillar)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1DA8E0-9770-A4E0-4809-F12A19FE0209}"/>
              </a:ext>
            </a:extLst>
          </p:cNvPr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ECDF5-CE5F-82E7-30B1-C2D9419CDE27}"/>
              </a:ext>
            </a:extLst>
          </p:cNvPr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18C78A7-5A2A-2BDF-7B59-E049211970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2985840" cy="26517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57200" y="3749039"/>
            <a:ext cx="29858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0" i="1">
                <a:solidFill>
                  <a:srgbClr val="666666"/>
                </a:solidFill>
                <a:latin typeface="Calibri"/>
              </a:rPr>
              <a:t>Cada color = un tramo (cluster) encontrado por DBSCAN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1161288"/>
            <a:ext cx="320040" cy="32004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B3B3B3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14300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3B3B3"/>
                </a:solidFill>
                <a:latin typeface="Calibri"/>
              </a:rPr>
              <a:t>Definir "estado estable"</a:t>
            </a:r>
          </a:p>
          <a:p>
            <a:pPr algn="l"/>
            <a:r>
              <a:rPr sz="1000" b="0" i="0">
                <a:solidFill>
                  <a:srgbClr val="B3B3B3"/>
                </a:solidFill>
                <a:latin typeface="Calibri"/>
              </a:rPr>
              <a:t>Con carga, de subida, sin cambio de pendiente y a velocidad estable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4276" y="1508760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4343400" y="1837943"/>
            <a:ext cx="320040" cy="32004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B3B3B3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1819656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3B3B3"/>
                </a:solidFill>
                <a:latin typeface="Calibri"/>
              </a:rPr>
              <a:t>Extraer y particionar</a:t>
            </a:r>
          </a:p>
          <a:p>
            <a:pPr algn="l"/>
            <a:r>
              <a:rPr sz="1000" b="0" i="0">
                <a:solidFill>
                  <a:srgbClr val="B3B3B3"/>
                </a:solidFill>
                <a:latin typeface="Calibri"/>
              </a:rPr>
              <a:t>Toda la serie de tiempo → una tabla con estadísticos por evento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94276" y="2185416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4343400" y="2514600"/>
            <a:ext cx="320040" cy="320040"/>
          </a:xfrm>
          <a:prstGeom prst="ellipse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B3B3B3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496312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B3B3B3"/>
                </a:solidFill>
                <a:latin typeface="Calibri"/>
              </a:rPr>
              <a:t>Mapear inicio y fin</a:t>
            </a:r>
          </a:p>
          <a:p>
            <a:pPr algn="l"/>
            <a:r>
              <a:rPr sz="1000" b="0" i="0">
                <a:solidFill>
                  <a:srgbClr val="B3B3B3"/>
                </a:solidFill>
                <a:latin typeface="Calibri"/>
              </a:rPr>
              <a:t>Cada evento es una línea recta sobre el mapa de la mina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4276" y="2862072"/>
            <a:ext cx="18288" cy="292608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4343400" y="3191256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0600" y="3172968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1A1A1A"/>
                </a:solidFill>
                <a:latin typeface="Calibri"/>
              </a:rPr>
              <a:t>Agrupar con DBSCAN</a:t>
            </a:r>
          </a:p>
          <a:p>
            <a:pPr algn="l"/>
            <a:r>
              <a:rPr sz="1100" b="0" i="0">
                <a:solidFill>
                  <a:srgbClr val="1A1A1A"/>
                </a:solidFill>
                <a:latin typeface="Calibri"/>
              </a:rPr>
              <a:t>Junta los eventos que recorren el mismo tramo, aunque estén muy cerca de otro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77639"/>
            <a:ext cx="8229600" cy="64008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050791"/>
            <a:ext cx="7955279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Resultado: tramos con </a:t>
            </a:r>
            <a:r>
              <a:rPr sz="1200" b="1" i="0">
                <a:solidFill>
                  <a:srgbClr val="2E7D32"/>
                </a:solidFill>
                <a:latin typeface="Calibri"/>
              </a:rPr>
              <a:t>forma libre</a:t>
            </a:r>
            <a:r>
              <a:rPr sz="1200" b="0" i="0">
                <a:solidFill>
                  <a:srgbClr val="2E7D32"/>
                </a:solidFill>
                <a:latin typeface="Calibri"/>
              </a:rPr>
              <a:t> y sin decir cuántos hay. Ahí se compara a todas las máquinas en las mismas condiciones.</a:t>
            </a:r>
          </a:p>
        </p:txBody>
      </p:sp>
    </p:spTree>
    <p:extLst>
      <p:ext uri="{BB962C8B-B14F-4D97-AF65-F5344CB8AC3E}">
        <p14:creationId xmlns:p14="http://schemas.microsoft.com/office/powerpoint/2010/main" val="562064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5B686-6D8C-BB28-A206-871CB9604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EB35FDF-58D9-2D9F-8141-22BD87AAF26E}"/>
              </a:ext>
            </a:extLst>
          </p:cNvPr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B45B5-CF4C-BC77-A430-4CA9E2F9CB2E}"/>
              </a:ext>
            </a:extLst>
          </p:cNvPr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77CF77-64BC-C9B0-8B3B-0A2B7C30DDAE}"/>
              </a:ext>
            </a:extLst>
          </p:cNvPr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Caso de estudio: minería (Caterpillar)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196DE1-7B6A-AFDB-AED4-2FB94374E216}"/>
              </a:ext>
            </a:extLst>
          </p:cNvPr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419360-62AC-C835-B918-F75076C18B46}"/>
              </a:ext>
            </a:extLst>
          </p:cNvPr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E124D3E0-6751-1204-B9D4-39FF42DF54B7}"/>
              </a:ext>
            </a:extLst>
          </p:cNvPr>
          <p:cNvSpPr/>
          <p:nvPr/>
        </p:nvSpPr>
        <p:spPr>
          <a:xfrm>
            <a:off x="457200" y="3977639"/>
            <a:ext cx="8229600" cy="640080"/>
          </a:xfrm>
          <a:prstGeom prst="roundRect">
            <a:avLst>
              <a:gd name="adj" fmla="val 3571"/>
            </a:avLst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02007B-F394-72F2-19EE-D19B4B86747E}"/>
              </a:ext>
            </a:extLst>
          </p:cNvPr>
          <p:cNvSpPr txBox="1"/>
          <p:nvPr/>
        </p:nvSpPr>
        <p:spPr>
          <a:xfrm>
            <a:off x="594360" y="4050791"/>
            <a:ext cx="7955279" cy="4937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2E7D32"/>
                </a:solidFill>
                <a:latin typeface="Calibri"/>
              </a:rPr>
              <a:t>Resultado: tramos con </a:t>
            </a:r>
            <a:r>
              <a:rPr sz="1200" b="1" i="0">
                <a:solidFill>
                  <a:srgbClr val="2E7D32"/>
                </a:solidFill>
                <a:latin typeface="Calibri"/>
              </a:rPr>
              <a:t>forma libre</a:t>
            </a:r>
            <a:r>
              <a:rPr sz="1200" b="0" i="0">
                <a:solidFill>
                  <a:srgbClr val="2E7D32"/>
                </a:solidFill>
                <a:latin typeface="Calibri"/>
              </a:rPr>
              <a:t> y sin decir cuántos hay. Ahí se compara a todas las máquinas en las mismas condiciones.</a:t>
            </a:r>
          </a:p>
        </p:txBody>
      </p:sp>
      <p:pic>
        <p:nvPicPr>
          <p:cNvPr id="26" name="Imagen 25">
            <a:extLst>
              <a:ext uri="{FF2B5EF4-FFF2-40B4-BE49-F238E27FC236}">
                <a16:creationId xmlns:a16="http://schemas.microsoft.com/office/drawing/2014/main" id="{0A35F721-793B-2069-2BE5-EFA5F1729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50" y="1378458"/>
            <a:ext cx="2616200" cy="2324100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0F2F6977-F1AF-A00D-58B5-0176A7EB65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4550" y="2108708"/>
            <a:ext cx="4546600" cy="86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868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91440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37160"/>
            <a:ext cx="80467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Mapa del curso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800" b="0" i="0">
                <a:solidFill>
                  <a:srgbClr val="666666"/>
                </a:solidFill>
                <a:latin typeface="Calibri"/>
              </a:rPr>
              <a:t>UDEM  |  Modelos de Analítica Predictiva  |  Jorge A. Ramírez García, M.Eng.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09728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Sesión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Tema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Caso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FFF500"/>
                          </a:solidFill>
                          <a:latin typeface="Arial"/>
                        </a:rPr>
                        <a:t>Pregunta</a:t>
                      </a:r>
                    </a:p>
                  </a:txBody>
                  <a:tcPr marL="73152" marR="73152" marT="27432" marB="27432"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Fundamentos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Distancias, escalado y métricas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K-Means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Mall Customers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¿Qué segmentos de clientes hay y qué campaña le toca a cada uno?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DBSCAN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Mall +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entregas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GPS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en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Monterrey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¿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Qué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clientes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no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encajan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? ¿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Dónde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poner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centros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de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distribución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?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PCA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Vinos (Wine)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¿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Cuántas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medidas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químicas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necesitamos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para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distinguir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los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vinos?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Caso integrador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Calibri"/>
                        </a:rPr>
                        <a:t>Clientes mayoristas (UCI)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¿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Cómo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organizar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a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los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clientes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? (</a:t>
                      </a:r>
                      <a:r>
                        <a:rPr sz="1100" b="0" i="0" dirty="0" err="1">
                          <a:solidFill>
                            <a:srgbClr val="1A1A1A"/>
                          </a:solidFill>
                          <a:latin typeface="Calibri"/>
                        </a:rPr>
                        <a:t>escalado</a:t>
                      </a:r>
                      <a:r>
                        <a:rPr sz="1100" b="0" i="0" dirty="0">
                          <a:solidFill>
                            <a:srgbClr val="1A1A1A"/>
                          </a:solidFill>
                          <a:latin typeface="Calibri"/>
                        </a:rPr>
                        <a:t> → PCA → K-Means vs DBSCAN)</a:t>
                      </a:r>
                    </a:p>
                  </a:txBody>
                  <a:tcPr marL="73152" marR="73152" marT="27432" marB="27432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77724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Conclusiones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960120"/>
            <a:ext cx="1828800" cy="45720"/>
          </a:xfrm>
          <a:prstGeom prst="rect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28016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2801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No supervisado = la respuesta deseada no existe: agrupamos y reducimos dimensiones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178308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Parecido = cerca: euclidiana, Manhattan, coseno o Haversine según la pregunta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Escalar no es opcional: sin escalar, manda la variable con unidades más grandes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278892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Sin etiquetas evaluamos compacidad y separación: silhouette ↑, Davies-Bouldin ↓, Calinski-Harabasz ↑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291840"/>
            <a:ext cx="320040" cy="320040"/>
          </a:xfrm>
          <a:prstGeom prst="ellipse">
            <a:avLst/>
          </a:prstGeom>
          <a:solidFill>
            <a:srgbClr val="FFF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 b="1" i="0">
                <a:solidFill>
                  <a:srgbClr val="1A1A1A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29184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Ninguna métrica sustituye al sentido de negocio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1553</Words>
  <Application>Microsoft Macintosh PowerPoint</Application>
  <PresentationFormat>Presentación en pantalla (16:9)</PresentationFormat>
  <Paragraphs>242</Paragraphs>
  <Slides>16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al Aprendizaje No Supervisado - UDEM</dc:title>
  <dc:subject/>
  <dc:creator>Jorge Alberto Ramírez García, M.Eng.</dc:creator>
  <cp:keywords/>
  <dc:description>generated using python-pptx</dc:description>
  <cp:lastModifiedBy>Jorge Ramirez Garcia</cp:lastModifiedBy>
  <cp:revision>4</cp:revision>
  <dcterms:created xsi:type="dcterms:W3CDTF">2013-01-27T09:14:16Z</dcterms:created>
  <dcterms:modified xsi:type="dcterms:W3CDTF">2026-10-21T19:03:08Z</dcterms:modified>
  <cp:category/>
</cp:coreProperties>
</file>