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Introducción al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Aprendizaje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No Supervisado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  ·  Sesión 0: Fundamentos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Supervisado vs no supervisado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600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Aprendizaje supervisado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3566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 respuesta deseada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existe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Clasificación: ¿fallará la máquina?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Regresión: ¿cuánto costará?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97280"/>
            <a:ext cx="3931920" cy="16002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37760" y="12344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Aprendizaje no supervisado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45919"/>
            <a:ext cx="3566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 respuesta deseada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 existe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Agrupamiento: ¿qué tipos de operación hay?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Reducción de dimensionalidad: ¿cómo resumo 20 sensores?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92608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97280"/>
                <a:gridCol w="1371600"/>
                <a:gridCol w="100584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Turno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RPM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Temp (°C)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Corriente (A)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Fallo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Mañana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1510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12.1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1240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Noche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1820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217920" y="2926080"/>
            <a:ext cx="2468880" cy="10972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55080" y="2999232"/>
            <a:ext cx="219456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Si nadie anotó la columna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Fallo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, sólo quedan las lecturas: el problema se vuelve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no supervisado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Clustering: agrupar por similitud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486400" cy="258391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097280"/>
            <a:ext cx="2651760" cy="26060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0" y="1234439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19"/>
            <a:ext cx="228600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Asignar una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etiqueta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a cada observación según su similitud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necesita etiquetas previas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Sirve para encontrar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patrones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en los datos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4005072"/>
            <a:ext cx="795527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¿Qué lo hace difícil?  Normalmente hay que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definir el número de grupos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 antemano… y decidir qué significa "parecido".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Familias de algoritmos de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Por centroides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K-Means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Grupos redondos alrededor de un centro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Tú eliges k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Sesión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898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5186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Jerárquico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1645919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Árbol de fusiones (dendrograma)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Familia muy conocida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forma parte de este curso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23443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Por densidad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19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DBSCAN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Grupos de cualquier forma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Marca el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ruido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(atípicos)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Sesión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7560"/>
            <a:ext cx="8229600" cy="8229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4360" y="3410712"/>
            <a:ext cx="795527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Complejidad creciente: de "tú eliges k y todos los puntos pertenecen a un grupo" (K-Means) a "el algoritmo decide cuántos grupos hay y quién no encaja en ninguno" (DBSCAN).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Reducción de dimensionalidad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red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94960" cy="26431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43600" y="1097280"/>
            <a:ext cx="2743200" cy="26060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26480" y="12344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45919"/>
            <a:ext cx="237744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Reducir información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conservando la tendencia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de interés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Tampoco necesita etiquetas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Visualizar datos complejos en 2D/3D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Paso de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preprocesamiento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X₁, X₂  →  Z₁        (PCA: sesión 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Flujo de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Adquisición de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188720"/>
            <a:ext cx="2194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65376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11095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Exploración de los datos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1188720"/>
            <a:ext cx="2194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19272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Preparación de los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188720"/>
            <a:ext cx="2194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1728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27448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Entrenamiento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188720"/>
            <a:ext cx="2194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35624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Evaluación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1188720"/>
            <a:ext cx="2194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43800" y="1188720"/>
            <a:ext cx="1097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Despliegue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24688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Preparación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8036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Escalar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siempre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Log en montos sesgados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Elegir qué variables entran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898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51860" y="24688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Entrenamiento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1860" y="288036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K-Means, DBSCAN, PCA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Elegir k, ε, componentes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Semilla fija (random_state)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3640" y="24688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Evaluación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88036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 hay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respuesta para comparar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Métricas internas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Sentido de negocio: ¿a cada grupo le toca una acción?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Distancias: ¿qué tan parecidos son?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201168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Distancia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Fórmula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Úsala cuando…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Euclidiana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√ Σ (pᵢ − qᵢ)²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Medidas numéricas (default)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Manhattan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Σ |pᵢ − qᵢ|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Te mueves "por cuadras"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Coseno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1 − p·q / (‖p‖ ‖q‖)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Importan proporciones (canastas, textos)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Haversine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2R · arcsin √( sin²(Δφ/2) + cos φ₁ cos φ₂ sin²(Δλ/2) 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Coordenadas GPS (en radianes)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dista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051560"/>
            <a:ext cx="2606040" cy="26979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3977639"/>
            <a:ext cx="8229600" cy="640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4023359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500"/>
                </a:solidFill>
                <a:latin typeface="Calibri"/>
              </a:rPr>
              <a:t>UDEM → Macroplaza:  Haversine = 11.05 km   ·   euclidiana en grados × 111 ≈ 12.22 km 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Por qué escalar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393192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14630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Edad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Salario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 años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30 años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$75,000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2286000"/>
            <a:ext cx="3931920" cy="91440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2359152"/>
            <a:ext cx="36576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62828"/>
                </a:solidFill>
                <a:latin typeface="Calibri"/>
              </a:rPr>
              <a:t>Sin escalar: distancia = </a:t>
            </a:r>
            <a:r>
              <a:rPr sz="1200" b="1" i="0">
                <a:solidFill>
                  <a:srgbClr val="C62828"/>
                </a:solidFill>
                <a:latin typeface="Calibri"/>
              </a:rPr>
              <a:t>25,000.0045</a:t>
            </a:r>
            <a:r>
              <a:rPr sz="1200" b="0" i="0">
                <a:solidFill>
                  <a:srgbClr val="C62828"/>
                </a:solidFill>
                <a:latin typeface="Calibri"/>
              </a:rPr>
              <a:t>. Los 15 años de diferencia aportan sólo </a:t>
            </a:r>
            <a:r>
              <a:rPr sz="1200" b="1" i="0">
                <a:solidFill>
                  <a:srgbClr val="C62828"/>
                </a:solidFill>
                <a:latin typeface="Calibri"/>
              </a:rPr>
              <a:t>0.0045</a:t>
            </a:r>
            <a:r>
              <a:rPr sz="1200" b="0" i="0">
                <a:solidFill>
                  <a:srgbClr val="C6282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3931920" cy="91440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502152"/>
            <a:ext cx="36576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Con Min-Max: (1, 0) y (0, 1) → distancia =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1.4142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. Edad y salario pesan lo mismo.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143000"/>
            <a:ext cx="3931920" cy="32004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lección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91640"/>
            <a:ext cx="3566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Las distancias suman diferencias de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todas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 las variables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La variable con unidades más grandes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manda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Medir el salario en miles cambiaría el resultado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Escalar = que el análisis no dependa de las unidades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En este curso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siempre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 escalamos antes de K-Means, DBSCAN o PCA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StandardScaler vs MinMaxScaler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esca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94960" cy="241271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097280"/>
            <a:ext cx="2697480" cy="13258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1234439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StandardScaler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45919"/>
            <a:ext cx="23317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z = (x − μ) / σ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Media 0, desviación 1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666666"/>
                </a:solidFill>
                <a:latin typeface="Calibri"/>
              </a:rPr>
              <a:t>Default</a:t>
            </a:r>
            <a:r>
              <a:rPr sz="1000" b="0" i="0">
                <a:solidFill>
                  <a:srgbClr val="666666"/>
                </a:solidFill>
                <a:latin typeface="Calibri"/>
              </a:rPr>
              <a:t> del curso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560320"/>
            <a:ext cx="2697480" cy="13258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697479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MinMaxScaler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108960"/>
            <a:ext cx="23317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x' = (x − mín) / (máx − mín)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Todo entre 0 y 1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Un atípico aplasta al resto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955279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62828"/>
                </a:solidFill>
                <a:latin typeface="Calibri"/>
              </a:rPr>
              <a:t>Sin escalar, la persona más parecida a Ana (25 años) es Carla (58 años), sólo porque ganan casi lo mismo.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¿Cómo se evalúa algo sin etiquetas?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metr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4937760" cy="24227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097280"/>
          <a:ext cx="3200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50876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Mejor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↑  (de −1 a 1)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Davies-Bouldin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↓  (0 es ideal)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Calinski-Harabasz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↑  (sin tope)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ARI (con etiqueta)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↑  (1 = perfecto)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9718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Las internas usan sólo X; el ARI necesita la etiqueta real, que en la práctica no existe.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s(i) = (b(i) − a(i)) / máx{a(i), b(i)}     a: a su grupo  ·  b: al grupo vecino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 de estudio: minería (Caterpillar)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caso_m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937760" cy="23533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6576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  <a:latin typeface="Calibri"/>
              </a:rPr>
              <a:t>Ilustración con datos sintéticos.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1143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09728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Definir "estado estable"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Con carga, de subida sin variación de grado, velocidad estable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1856231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10512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Extraer y particionar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Todos los datos → tabla de estadísticos por evento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0" y="2569463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23744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Mapear inicio y fin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Cada evento es una línea recta sobre el mapa de la mina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0" y="3282696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36976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DBSCAN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Separa los tramos más transitados, incluso los muy cercanos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096512"/>
            <a:ext cx="7955279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Pregunta: ¿cuál es el tramo más transitado de la mina, para comparar cada máquina en las mismas condiciones?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Mapa del curso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371600"/>
                <a:gridCol w="2103120"/>
                <a:gridCol w="402336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Sesión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Tema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Fundamentos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Distancias, escalado y métricas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Mall Customers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¿Qué segmentos de clientes hay y qué campaña le toca a cada uno?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Mall + entregas GPS en Monterrey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¿Qué clientes no encajan? ¿Dónde poner centros de distribución?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Vinos (Wine)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¿Cuántas medidas químicas necesitamos para distinguir los vinos?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Caso integrador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Clientes mayoristas (UCI)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¿Cómo organizar a los clientes? (escalado → PCA → K-Means vs DBSCAN)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No supervisado = la respuesta deseada no existe: agrupamos y reducimos dimensiones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Parecido = cerca: euclidiana, Manhattan, coseno o Haversine según la pregunta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Escalar no es opcional: sin escalar, manda la variable con unidades más grandes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Sin etiquetas evaluamos compacidad y separación: silhouette ↑, Davies-Bouldin ↓, Calinski-Harabasz ↑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Ninguna métrica sustituye al sentido de negocio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al Aprendizaje No Supervisado - UDEM</dc:title>
  <dc:subject/>
  <dc:creator>Jorge Alberto Ramírez García, M.Eng.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