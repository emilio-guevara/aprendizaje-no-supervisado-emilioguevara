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Introducción a</a:t>
            </a:r>
          </a:p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K-Means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500"/>
                </a:solidFill>
                <a:latin typeface="Calibri"/>
              </a:rPr>
              <a:t>Aprendizaje No Supervisado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UDEM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Jorge Alberto Ramírez García, M.Eng.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¿Qué es K-Means?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Agrupa puntos parecidos alrededor de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k centros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(centroides), sin etiquetas.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2606040" cy="201168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Tú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El número de grupos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k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Qué variables entran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Cómo se escalan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8980" y="1737360"/>
            <a:ext cx="2606040" cy="201168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51860" y="187451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El algoritmo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1860" y="228600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Qué punto va en qué grupo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Dónde queda cada centroide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37360"/>
            <a:ext cx="2606040" cy="201168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63640" y="187451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Se usa para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Segmentar clientes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Agrupar productos o tiendas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Resumir datos en prototipos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39"/>
            <a:ext cx="8229600" cy="54864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050791"/>
            <a:ext cx="7955279" cy="4023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No hay respuesta correcta contra la cual comparar: el valor está en que los grupos tengan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sentido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y lleven a una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acción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El algoritmo de Lloyd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23444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88720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Inicializar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Elegir k puntos como centroides iniciales (k-means++ los elige separados)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892807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47088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Asignar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Cada punto se va con el centroide más cercano (distancia euclidiana)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551176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05456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Recalcular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Cada centroide se mueve al promedio de los puntos que le tocaron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209544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63824"/>
            <a:ext cx="7772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66666"/>
                </a:solidFill>
                <a:latin typeface="Calibri"/>
              </a:rPr>
              <a:t>Repetir 2 y 3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Hasta que ningún punto cambie de cluster (los centroides ya no se mueven)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4005072"/>
            <a:ext cx="7955279" cy="49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Cada paso </a:t>
            </a:r>
            <a:r>
              <a:rPr sz="1200" b="1" i="0">
                <a:solidFill>
                  <a:srgbClr val="2E7D32"/>
                </a:solidFill>
                <a:latin typeface="Calibri"/>
              </a:rPr>
              <a:t>baja o mantiene</a:t>
            </a:r>
            <a:r>
              <a:rPr sz="1200" b="0" i="0">
                <a:solidFill>
                  <a:srgbClr val="2E7D32"/>
                </a:solidFill>
                <a:latin typeface="Calibri"/>
              </a:rPr>
              <a:t> la inercia, así que el algoritmo </a:t>
            </a:r>
            <a:r>
              <a:rPr sz="1200" b="1" i="0">
                <a:solidFill>
                  <a:srgbClr val="2E7D32"/>
                </a:solidFill>
                <a:latin typeface="Calibri"/>
              </a:rPr>
              <a:t>siempre converge</a:t>
            </a:r>
            <a:r>
              <a:rPr sz="1200" b="0" i="0">
                <a:solidFill>
                  <a:srgbClr val="2E7D32"/>
                </a:solidFill>
                <a:latin typeface="Calibri"/>
              </a:rPr>
              <a:t>… aunque puede quedarse en un óptimo local.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Lloyd en acción: asignar → recalcular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lloy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23100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○ centroide antes   →   ✕ centroide después de recalcular. Color = cluster asignado.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Arranque malo a propósito (los 4 centroides en la misma nube): en 4 iteraciones cada nube tiene su centro.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¿Qué optimiza? La inercia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500"/>
                </a:solidFill>
                <a:latin typeface="Calibri"/>
              </a:rPr>
              <a:t>J = Σᵢ ‖xᵢ − μ_c(i)‖²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2606040" cy="237744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Se lee así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2240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Suma de distancias² de cada punto a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su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centroide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Pequeña = grupos apretados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8980" y="2240280"/>
            <a:ext cx="2606040" cy="237744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51860" y="2377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Por qué baja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1860" y="2788920"/>
            <a:ext cx="2240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Asignar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: cada punto elige su centro más cercano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Recalcular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: el promedio minimiza la suma de distancias²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240280"/>
            <a:ext cx="2606040" cy="237744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63640" y="237744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Cuidado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788920"/>
            <a:ext cx="2240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Siempre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baja al subir k (con k = n vale 0)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Sirve para el codo, no para comparar k directamente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Inicialización: k-means++ y n_init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3977639" cy="210312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El problema: óptimos locales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611879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Si dos centroides arrancan en la misma nube, Lloyd converge a una solución peor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Ningún paso puede arreglarlo después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143000"/>
            <a:ext cx="3977639" cy="210312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92040" y="1280160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Los remedios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611879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k-means++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(default): cada centroide nuevo se elige lejos de los anteriores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n_init=10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: 10 arranques, se queda con el de menor inercia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74720"/>
            <a:ext cx="8229600" cy="86868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3611879"/>
            <a:ext cx="786384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FF500"/>
                </a:solidFill>
                <a:latin typeface="Courier New"/>
              </a:rPr>
              <a:t>KMeans(n_clusters=k, init='k-means++', n_init=10, random_state=42)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Desde scikit-learn 1.4, n_init='auto' hace un solo intento con k-means++: escríbelo explícito.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¿Cómo elegir k?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co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245429" cy="27432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00600" y="1188720"/>
          <a:ext cx="3886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1945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Señal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Buscamos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Inercia (codo)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Donde deja de bajar mucho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Silhouette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Alto (−1 a 1)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Davies-Bouldin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Bajo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Calinski-Harabasz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3977639"/>
            <a:ext cx="8229600" cy="6858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4050791"/>
            <a:ext cx="7955279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Usa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varias señales y el sentido de negocio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. Cuando se contradicen, dilo y prefiere la solución más simple que se pueda explicar y accionar.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Escala antes de agrupar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3977639" cy="22860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Sin escalar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6118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Edad: 18 a 70 (años)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Ingreso: 5,000 a 150,000 (pesos)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La distancia es casi sólo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ingreso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: la edad no cuenta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Cambiar de unidades cambia los clusters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143000"/>
            <a:ext cx="3977639" cy="22860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92040" y="1280160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Con StandardScaler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6118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Cada variable: media 0, desviación 1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Todas pesan lo mismo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El resultado no depende de las unidades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4360" y="3730752"/>
            <a:ext cx="7955279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  <a:latin typeface="Calibri"/>
              </a:rPr>
              <a:t>Ajusta con los datos escalados, pero </a:t>
            </a:r>
            <a:r>
              <a:rPr sz="1200" b="1" i="0">
                <a:solidFill>
                  <a:srgbClr val="2E7D32"/>
                </a:solidFill>
                <a:latin typeface="Calibri"/>
              </a:rPr>
              <a:t>interpreta en unidades originales</a:t>
            </a:r>
            <a:r>
              <a:rPr sz="1200" b="0" i="0">
                <a:solidFill>
                  <a:srgbClr val="2E7D32"/>
                </a:solidFill>
                <a:latin typeface="Calibri"/>
              </a:rPr>
              <a:t> (scaler.inverse_transform o promedios por cluster sobre el df original).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Cuándo K-Means falla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l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120640" cy="20017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0" y="1143000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Fronteras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rectas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entre centroides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Prefiere grupos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redondos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y de tamaño parecido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Falla con lunas, anillos y densidades distintas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Todo punto pertenece a un cluster: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no hay ruido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•  Sensible a atípicos (arrastran el promedio)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77639"/>
            <a:ext cx="8229600" cy="64008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4360" y="4050791"/>
            <a:ext cx="7955279" cy="4937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Siguiente sesión: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DBSCAN</a:t>
            </a:r>
            <a:r>
              <a:rPr sz="1200" b="0" i="0">
                <a:solidFill>
                  <a:srgbClr val="1A1A1A"/>
                </a:solidFill>
                <a:latin typeface="Calibri"/>
              </a:rPr>
              <a:t> agrupa por zonas densas, sigue formas raras y marca el ruido.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Segmentación en negocio: el flujo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104900" cy="9144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95859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Explorar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(EDA)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2100" y="12801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2139" y="1280160"/>
            <a:ext cx="1104900" cy="9144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5291" y="1280160"/>
            <a:ext cx="95859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Elegir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7040" y="12801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7079" y="1280160"/>
            <a:ext cx="1104900" cy="9144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0231" y="1280160"/>
            <a:ext cx="95859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Escalar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1979" y="12801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2019" y="1280160"/>
            <a:ext cx="1104900" cy="9144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05171" y="1280160"/>
            <a:ext cx="95859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Elegir k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(métricas)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6919" y="12801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6959" y="1280160"/>
            <a:ext cx="1104900" cy="9144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30111" y="1280160"/>
            <a:ext cx="95859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Perfilar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clusters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1859" y="1280160"/>
            <a:ext cx="320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1899" y="1280160"/>
            <a:ext cx="1104900" cy="9144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55051" y="1280160"/>
            <a:ext cx="958596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Nombre +</a:t>
            </a:r>
          </a:p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acción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514600"/>
            <a:ext cx="3977639" cy="210312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0080" y="2651760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Perfilar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063240"/>
            <a:ext cx="3611879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Tamaño y promedio de cada variable por cluster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En unidades que entienda el negocio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El número del cluster no significa nada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09160" y="2514600"/>
            <a:ext cx="3977639" cy="210312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92040" y="2651760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Accionar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063240"/>
            <a:ext cx="3611879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Un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nombre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por segmento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Una </a:t>
            </a:r>
            <a:r>
              <a:rPr sz="1100" b="1" i="0">
                <a:solidFill>
                  <a:srgbClr val="666666"/>
                </a:solidFill>
                <a:latin typeface="Calibri"/>
              </a:rPr>
              <a:t>campaña</a:t>
            </a:r>
            <a:r>
              <a:rPr sz="1100" b="0" i="0">
                <a:solidFill>
                  <a:srgbClr val="666666"/>
                </a:solidFill>
                <a:latin typeface="Calibri"/>
              </a:rPr>
              <a:t> o decisión por segmento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Si no cambia ninguna decisión, sobra el segmento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Código mínimo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8229600" cy="2286000"/>
          </a:xfrm>
          <a:prstGeom prst="roundRect">
            <a:avLst>
              <a:gd name="adj" fmla="val 3571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7863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500"/>
                </a:solidFill>
                <a:latin typeface="Courier New"/>
              </a:rPr>
              <a:t>from sklearn.preprocessing import StandardScaler</a:t>
            </a:r>
          </a:p>
          <a:p>
            <a:pPr algn="l"/>
            <a:r>
              <a:rPr sz="1200" b="0" i="0">
                <a:solidFill>
                  <a:srgbClr val="FFF500"/>
                </a:solidFill>
                <a:latin typeface="Courier New"/>
              </a:rPr>
              <a:t>from sklearn.cluster import KMeans</a:t>
            </a:r>
          </a:p>
          <a:p>
            <a:pPr algn="l"/>
          </a:p>
          <a:p>
            <a:pPr algn="l"/>
            <a:r>
              <a:rPr sz="1200" b="0" i="0">
                <a:solidFill>
                  <a:srgbClr val="FFF500"/>
                </a:solidFill>
                <a:latin typeface="Courier New"/>
              </a:rPr>
              <a:t>X = StandardScaler().fit_transform(df[columnas])      # 1. escalar</a:t>
            </a:r>
          </a:p>
          <a:p>
            <a:pPr algn="l"/>
            <a:r>
              <a:rPr sz="1200" b="0" i="0">
                <a:solidFill>
                  <a:srgbClr val="FFF500"/>
                </a:solidFill>
                <a:latin typeface="Courier New"/>
              </a:rPr>
              <a:t>tabla = tabla_metricas_k(X, range(2, 11))             # 2. métricas por k</a:t>
            </a:r>
          </a:p>
          <a:p>
            <a:pPr algn="l"/>
            <a:r>
              <a:rPr sz="1200" b="0" i="0">
                <a:solidFill>
                  <a:srgbClr val="FFF500"/>
                </a:solidFill>
                <a:latin typeface="Courier New"/>
              </a:rPr>
              <a:t>kmeans = KMeans(n_clusters=k, n_init=10,</a:t>
            </a:r>
          </a:p>
          <a:p>
            <a:pPr algn="l"/>
            <a:r>
              <a:rPr sz="1200" b="0" i="0">
                <a:solidFill>
                  <a:srgbClr val="FFF500"/>
                </a:solidFill>
                <a:latin typeface="Courier New"/>
              </a:rPr>
              <a:t>                random_state=42).fit(X)               # 3. ajustar</a:t>
            </a:r>
          </a:p>
          <a:p>
            <a:pPr algn="l"/>
            <a:r>
              <a:rPr sz="1200" b="0" i="0">
                <a:solidFill>
                  <a:srgbClr val="FFF500"/>
                </a:solidFill>
                <a:latin typeface="Courier New"/>
              </a:rPr>
              <a:t>perfil_clusters(df, kmeans.labels_, columnas)         # 4. perfilar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kmeans.labels_ = cluster de cada fila  ·  kmeans.cluster_centers_ = centroides (escalados)  ·  kmeans.inertia_ = J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Errores comunes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4300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120640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500"/>
                          </a:solidFill>
                          <a:latin typeface="Arial"/>
                        </a:rPr>
                        <a:t>Error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500"/>
                          </a:solidFill>
                          <a:latin typeface="Arial"/>
                        </a:rPr>
                        <a:t>Qué hacer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No escalar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StandardScaler antes; perfiles en unidades originales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Un solo intento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n_init=10 y random_state=42 explícitos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Elegir k sólo con el codo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Codo + silhouette + DB + CH + negocio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Interpretar el número del cluster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Ponle nombre según su perfil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Meter dummies 0/1 sin pensar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Dominan la distancia: perfílalas después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Usarlo con formas raras o ruido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Grafica antes; prueba DBSCAN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K-Means alterna asignar y recalcular hasta minimizar la inercia J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78308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k-means++ y n_init=10 evitan quedarse en un óptimo local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8600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Elige k con varias métricas y con sentido de negocio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78892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88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Escala antes de agrupar e interpreta en unidades originales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9184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91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Grupos redondos sí; formas raras, densidades distintas y ruido: DBSCAN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K-Means - UDEM</dc:title>
  <dc:subject/>
  <dc:creator>Jorge Alberto Ramírez García, M.Eng.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