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Algoritmo de Clustering</a:t>
            </a:r>
          </a:p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DBSCAN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FF500"/>
                </a:solidFill>
                <a:latin typeface="Calibri"/>
              </a:rPr>
              <a:t>Aprendizaje No Supervisado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1097280" cy="32004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UDEM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Jorge Alberto Ramírez García, M.Eng.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¿Qué es DBSCAN?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66666"/>
                </a:solidFill>
                <a:latin typeface="Calibri"/>
              </a:rPr>
              <a:t>D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ensity-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B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ased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S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patial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C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lustering of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A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pplications with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N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oise (Ester et al., 1996)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4023360" cy="150876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Basado en densidad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Un cluster es una región donde los puntos están apretados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Separada de otras por zonas vacías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463040"/>
            <a:ext cx="4023360" cy="150876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846320" y="1600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Formas arbitrarias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01168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Encuentra grupos curvos, alargados o anillos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K-Means sólo encuentra grupos redondos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4023360" cy="150876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Detecta ruido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Los puntos aislados quedan fuera (etiqueta -1)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No obliga a asignar a todos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108960"/>
            <a:ext cx="4023360" cy="150876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46320" y="3246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Sin k predefinido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65760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El número de clusters sale de los datos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A cambio pide ε y min_samples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Densidad: ε-vecindad y alcanzabilidad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606040" cy="25146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ε-vecindad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2402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Todos los puntos a distancia ≤ ε de p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ε (eps) es un radio que tú eliges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143000"/>
            <a:ext cx="2606040" cy="25146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29000" y="12801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Densamente alcanzable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691640"/>
            <a:ext cx="22402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q se alcanza desde p si hay una cadena de núcleos entre ellos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Cada eslabón a menos de 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143000"/>
            <a:ext cx="2606040" cy="25146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7920" y="12801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Densamente conectados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91640"/>
            <a:ext cx="22402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p y q se alcanzan desde un mismo núcleo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Cluster = puntos conectados entre sí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500"/>
                </a:solidFill>
                <a:latin typeface="Calibri"/>
              </a:rPr>
              <a:t>N_ε(p) = { q : d(p, q) ≤ ε }        p es núcleo  ⇔  |N_ε(p)| ≥ min_samples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Tres tipos de punto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tipos_pu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054708" cy="3611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097280"/>
            <a:ext cx="3108960" cy="1115568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06440" y="12344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Núcleo (core)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645919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≥ min_samples puntos en su radio ε (él incluido)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Siembra y hace crecer el cluster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2313432"/>
            <a:ext cx="3108960" cy="1115568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806440" y="24505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Frontera (border)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862072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No es núcleo, pero está en el radio de uno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Pertenece al cluster; no lo expande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529584"/>
            <a:ext cx="3108960" cy="1115568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06440" y="366674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Ruido (noise)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078224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Ni núcleo ni cerca de un núcleo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Etiqueta -1: queda fuera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El algoritmo en 5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23444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8872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Contar vecinos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Para cada punto, cuántos hay a distancia ≤ ε → marca los núcleos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920239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Abrir un cluster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Toma un núcleo sin cluster y crea uno nuevo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606039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Expandir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Agrega a sus vecinos; si un vecino es núcleo, agrega también a los suyos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291839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Repetir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Cuando ya no crece, vuelve al paso 2 con otro núcleo libre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977639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Etiquetar el ruido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Lo que nunca se alcanzó desde un núcleo queda como 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1188720"/>
            <a:ext cx="2926080" cy="338328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0" y="13258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Diferencias con K-Means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737360"/>
            <a:ext cx="2560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No hay centroides ni iteraciones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Núcleos y ruido son deterministas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No hay predict: describe estos datos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No necesita saber cuántos grupos hay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Los dos parámetros: ε y min_samples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efecto_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51560"/>
            <a:ext cx="7132320" cy="219826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3611880"/>
            <a:ext cx="4023360" cy="11430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ε (eps): el radio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Muy chico → todo es ruido o mil clusters diminutos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Muy grande → un solo cluster (arriba: min_samples = 10)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611880"/>
            <a:ext cx="4023360" cy="11430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846320" y="3749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min_samples (MinPts): la densidad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1605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Regla práctica: ≥ dimensiones + 1; arranque 2 × dim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Más alto → más exigente → más ruido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Cómo elegir ε: la gráfica de k-distancia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k_dis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480560" cy="3025487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74920" y="114300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097280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Fija min_samples primero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≥ dimensiones + 1 (2 × dim para arrancar)</a:t>
            </a:r>
          </a:p>
        </p:txBody>
      </p:sp>
      <p:sp>
        <p:nvSpPr>
          <p:cNvPr id="10" name="Oval 9"/>
          <p:cNvSpPr/>
          <p:nvPr/>
        </p:nvSpPr>
        <p:spPr>
          <a:xfrm>
            <a:off x="5074920" y="1764792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719072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Radio para juntar k puntos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Contándose a sí mismo, con k = min_samples</a:t>
            </a:r>
          </a:p>
        </p:txBody>
      </p:sp>
      <p:sp>
        <p:nvSpPr>
          <p:cNvPr id="12" name="Oval 11"/>
          <p:cNvSpPr/>
          <p:nvPr/>
        </p:nvSpPr>
        <p:spPr>
          <a:xfrm>
            <a:off x="5074920" y="2386584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340864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Ordena y grafica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Dentro de un cluster: distancias chicas</a:t>
            </a:r>
          </a:p>
        </p:txBody>
      </p:sp>
      <p:sp>
        <p:nvSpPr>
          <p:cNvPr id="14" name="Oval 13"/>
          <p:cNvSpPr/>
          <p:nvPr/>
        </p:nvSpPr>
        <p:spPr>
          <a:xfrm>
            <a:off x="5074920" y="3008376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962656"/>
            <a:ext cx="3200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Busca el codo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Donde la curva se dispara: candidato a 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703320"/>
            <a:ext cx="3657600" cy="96012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12080" y="3776472"/>
            <a:ext cx="3383280" cy="813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El codo es un punto de partida: afina con una grilla de ε × min_samples y mira siempre el % de ruido.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DBSCAN vs 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dbscan_vs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4663440" cy="21191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3383280"/>
            <a:ext cx="4663440" cy="1280160"/>
          </a:xfrm>
          <a:prstGeom prst="roundRect">
            <a:avLst>
              <a:gd name="adj" fmla="val 3571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3456432"/>
            <a:ext cx="4389120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  <a:latin typeface="Calibri"/>
              </a:rPr>
              <a:t>En las lunas, DBSCAN acierta (ARI = 1.0) y K-Means no (ARI = 0.48)… pero la silhouette favorece a K-Means (0.49 vs 0.38): premia grupos redondos. Mira siempre la gráfica.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57800" y="1143000"/>
          <a:ext cx="35204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97280"/>
                <a:gridCol w="1371600"/>
              </a:tblGrid>
              <a:tr h="438912">
                <a:tc>
                  <a:txBody>
                    <a:bodyPr/>
                    <a:lstStyle/>
                    <a:p/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500"/>
                          </a:solidFill>
                          <a:latin typeface="Arial"/>
                        </a:rPr>
                        <a:t>K-Means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500"/>
                          </a:solidFill>
                          <a:latin typeface="Arial"/>
                        </a:rPr>
                        <a:t>DBSCAN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¿Pide k?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Forma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Redonda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Cualquiera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Outliers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Los asigna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Ruido (-1)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Parámetros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ε, min_samples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Punto débil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Formas raras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Densidades distintas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Puntos nuevos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predict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Volver a ajustar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Densidades variables: HDBSCAN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hdb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24128"/>
            <a:ext cx="6949440" cy="24684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3611880"/>
            <a:ext cx="4023360" cy="11430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El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Un solo ε para todo el mapa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ε chico pierde lo disperso; ε grande junta lo denso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611880"/>
            <a:ext cx="4023360" cy="11430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846320" y="3749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HDBSCAN (sklearn.cluster.HDBSCAN)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1605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Prueba todos los radios y se queda con los clusters más estables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Parámetro: min_cluster_size (tamaño mínimo de grupo)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Distancias: Euclidiana, Manhattan y Haversine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606040" cy="16002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Euclidiana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2240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d = √Σ(pᵢ − qᵢ)²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Línea recta; el default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Variables escaladas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97280"/>
            <a:ext cx="2606040" cy="16002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29000" y="123443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Manhattan (L1)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645919"/>
            <a:ext cx="2240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d = Σ|pᵢ − qᵢ|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Suma de diferencias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Útil en muchas dimensiones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097280"/>
            <a:ext cx="2606040" cy="16002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7920" y="123443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Haversine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45919"/>
            <a:ext cx="2240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Distancia sobre una esfera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Coordenadas GPS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metric='haversine'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34640"/>
            <a:ext cx="8229600" cy="105156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Ejemplo en Monterrey (25.7° 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786384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1° de latitud ≈ 111 km, pero 1° de longitud ≈ 100.3 km: la euclidiana sobre grados distorsiona (y más lejos del ecuador)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Macroplaza → Valle Oriente ≈ 4.9 km con Haversine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500"/>
                </a:solidFill>
                <a:latin typeface="Calibri"/>
              </a:rPr>
              <a:t>X = np.radians(df[['lat', 'lon']])     eps = km / 6371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Flujo de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04900" cy="86868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9585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Escalar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(GPS: radianes)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2100" y="1188720"/>
            <a:ext cx="320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2139" y="1188720"/>
            <a:ext cx="1104900" cy="86868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5291" y="1188720"/>
            <a:ext cx="9585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Fijar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min_samples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7040" y="1188720"/>
            <a:ext cx="320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7079" y="1188720"/>
            <a:ext cx="1104900" cy="86868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0231" y="1188720"/>
            <a:ext cx="9585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k-distancia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→ 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1979" y="1188720"/>
            <a:ext cx="320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2019" y="1188720"/>
            <a:ext cx="1104900" cy="86868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05171" y="1188720"/>
            <a:ext cx="9585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Grilla y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% de ruido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6919" y="1188720"/>
            <a:ext cx="320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6959" y="1188720"/>
            <a:ext cx="1104900" cy="86868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30111" y="1188720"/>
            <a:ext cx="9585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Perfilar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el ruido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1859" y="1188720"/>
            <a:ext cx="320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1899" y="1188720"/>
            <a:ext cx="1104900" cy="86868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55051" y="1188720"/>
            <a:ext cx="9585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Decidir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331720"/>
            <a:ext cx="4023360" cy="237744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0080" y="246887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Errores comunes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880360"/>
            <a:ext cx="3657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Silhouette con el ruido incluido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Elegir el modelo sólo por silhouette: más ruido la infla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ε sin escalar las variables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Haversine con grados en lugar de radianes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Contar el -1 como un cluster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331720"/>
            <a:ext cx="4023360" cy="237744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46320" y="246887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Buenas prácticas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880360"/>
            <a:ext cx="3657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Reporta silhouette sin ruido junto con el % de ruido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Compara modelos sobre el mismo conjunto de puntos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El ruido no es basura: perfílalo antes de decidir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Prueba la estabilidad: ¿cambia todo con un ε cercano?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Código mínimo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4069080" cy="361188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703320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from sklearn.cluster import DBSCAN</a:t>
            </a:r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from sklearn.preprocessing import StandardScaler</a:t>
            </a:r>
          </a:p>
          <a:p>
            <a:pPr algn="l"/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X = StandardScaler().fit_transform(df[cols])</a:t>
            </a:r>
          </a:p>
          <a:p>
            <a:pPr algn="l"/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plot_k_distancia(X, k=6)   # elige eps</a:t>
            </a:r>
          </a:p>
          <a:p>
            <a:pPr algn="l"/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dbscan = DBSCAN(</a:t>
            </a:r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    eps=0.5,</a:t>
            </a:r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    min_samples=6</a:t>
            </a:r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).fit(X)</a:t>
            </a:r>
          </a:p>
          <a:p>
            <a:pPr algn="l"/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labels = dbscan.labels_      # -1 = ruido</a:t>
            </a:r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evaluar_clustering('DBSCAN', X, labels)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097280"/>
            <a:ext cx="4069080" cy="361188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00600" y="1234439"/>
            <a:ext cx="3703320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# Coordenadas GPS</a:t>
            </a:r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import numpy as np</a:t>
            </a:r>
          </a:p>
          <a:p>
            <a:pPr algn="l"/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X_rad = np.radians(df[['lat', 'lon']])</a:t>
            </a:r>
          </a:p>
          <a:p>
            <a:pPr algn="l"/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dbscan_gps = DBSCAN(</a:t>
            </a:r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    eps=0.5 / 6371,      # 0.5 km</a:t>
            </a:r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    min_samples=10,</a:t>
            </a:r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    metric='haversine'</a:t>
            </a:r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).fit(X_rad)</a:t>
            </a:r>
          </a:p>
          <a:p>
            <a:pPr algn="l"/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# Sin eps: HDBSCAN</a:t>
            </a:r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from sklearn.cluster import HDBSCAN</a:t>
            </a:r>
          </a:p>
          <a:p>
            <a:pPr algn="l"/>
            <a:r>
              <a:rPr sz="1000" b="0" i="0">
                <a:solidFill>
                  <a:srgbClr val="FFF500"/>
                </a:solidFill>
                <a:latin typeface="Courier New"/>
              </a:rPr>
              <a:t>HDBSCAN(min_cluster_size=20).fit(X)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Casos de uso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4023360" cy="164592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Geoanalítica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Zonas de alta demanda para centros de distribución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Paradas de transporte, zonas de criminalidad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143000"/>
            <a:ext cx="4023360" cy="164592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Ciberseguridad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9164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Tráfico de red anómalo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Patrones de ataque como ruido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4023360" cy="164592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Clientes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Segmentos densos + clientes que no encajan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Atención personalizada a los atípicos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926080"/>
            <a:ext cx="4023360" cy="164592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Bioinformática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7472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Secuencias y células con formas complejas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Grupos sin forma redonda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31520" y="128016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DBSCAN agrupa por densidad: núcleos, frontera y ruido, sin pedir k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78308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Fija min_samples primero y elige ε con la gráfica de k-distancia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8600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Reporta la silhouette sin ruido junto con el % de ruido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78892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88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Densidades muy distintas → HDBSCAN; coordenadas GPS → Haversine en radianes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29184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91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Escala antes de medir distancias, y perfila el ruido antes de descartarlo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 de Clustering DBSCAN - UDEM</dc:title>
  <dc:subject/>
  <dc:creator>Jorge Alberto Ramírez García, M.Eng.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